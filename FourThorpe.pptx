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sldIdLst>
    <p:sldId id="256" r:id="rId5"/>
    <p:sldId id="259" r:id="rId6"/>
    <p:sldId id="262" r:id="rId7"/>
    <p:sldId id="257" r:id="rId8"/>
    <p:sldId id="258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F06756-0097-ABCF-4131-6E61775525D4}" v="71" dt="2025-12-03T02:13:13.488"/>
    <p1510:client id="{8603AC81-84EC-6401-BA7C-264001820A72}" v="700" dt="2025-12-02T00:10:33.982"/>
    <p1510:client id="{F4F938B1-EC2D-480A-A86A-030D2E437923}" v="32" dt="2025-12-01T23:52:21.6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F6D5A2-2E5B-45C6-955F-4DC393790AE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B381EFA-9AC6-4886-B002-2BA039846648}">
      <dgm:prSet/>
      <dgm:spPr/>
      <dgm:t>
        <a:bodyPr/>
        <a:lstStyle/>
        <a:p>
          <a:r>
            <a:rPr lang="en-US"/>
            <a:t>Robert Hallanger – Project Manager</a:t>
          </a:r>
        </a:p>
      </dgm:t>
    </dgm:pt>
    <dgm:pt modelId="{BEB8091E-C570-4C69-8E4A-213E846589EF}" type="parTrans" cxnId="{857F537F-6149-418F-9AD3-0D1BC7EC233A}">
      <dgm:prSet/>
      <dgm:spPr/>
      <dgm:t>
        <a:bodyPr/>
        <a:lstStyle/>
        <a:p>
          <a:endParaRPr lang="en-US"/>
        </a:p>
      </dgm:t>
    </dgm:pt>
    <dgm:pt modelId="{BDBDE1A8-57F6-4D8F-B26D-F1B983B600FA}" type="sibTrans" cxnId="{857F537F-6149-418F-9AD3-0D1BC7EC233A}">
      <dgm:prSet/>
      <dgm:spPr/>
      <dgm:t>
        <a:bodyPr/>
        <a:lstStyle/>
        <a:p>
          <a:endParaRPr lang="en-US"/>
        </a:p>
      </dgm:t>
    </dgm:pt>
    <dgm:pt modelId="{6490C23E-E998-4520-9CDA-70CAAED4BD4C}">
      <dgm:prSet/>
      <dgm:spPr/>
      <dgm:t>
        <a:bodyPr/>
        <a:lstStyle/>
        <a:p>
          <a:r>
            <a:rPr lang="en-US"/>
            <a:t>Matthew Fuentes – Developer</a:t>
          </a:r>
        </a:p>
      </dgm:t>
    </dgm:pt>
    <dgm:pt modelId="{51C00F47-F666-404D-84C7-07E2822C3DDC}" type="parTrans" cxnId="{EA65AA76-8B98-4CE1-BA19-DF314C8F4EBD}">
      <dgm:prSet/>
      <dgm:spPr/>
      <dgm:t>
        <a:bodyPr/>
        <a:lstStyle/>
        <a:p>
          <a:endParaRPr lang="en-US"/>
        </a:p>
      </dgm:t>
    </dgm:pt>
    <dgm:pt modelId="{75777E8E-2AF8-472B-81F2-A472A3625768}" type="sibTrans" cxnId="{EA65AA76-8B98-4CE1-BA19-DF314C8F4EBD}">
      <dgm:prSet/>
      <dgm:spPr/>
      <dgm:t>
        <a:bodyPr/>
        <a:lstStyle/>
        <a:p>
          <a:endParaRPr lang="en-US"/>
        </a:p>
      </dgm:t>
    </dgm:pt>
    <dgm:pt modelId="{92E66420-684A-47BE-B3F6-72E7CB006F68}">
      <dgm:prSet/>
      <dgm:spPr/>
      <dgm:t>
        <a:bodyPr/>
        <a:lstStyle/>
        <a:p>
          <a:r>
            <a:rPr lang="en-US"/>
            <a:t>Kelton Jasper – Tester</a:t>
          </a:r>
        </a:p>
      </dgm:t>
    </dgm:pt>
    <dgm:pt modelId="{8956854A-8111-4C61-BFE7-D7B7817B341A}" type="parTrans" cxnId="{2AFA69C7-B710-4607-AF3A-369208439BF3}">
      <dgm:prSet/>
      <dgm:spPr/>
      <dgm:t>
        <a:bodyPr/>
        <a:lstStyle/>
        <a:p>
          <a:endParaRPr lang="en-US"/>
        </a:p>
      </dgm:t>
    </dgm:pt>
    <dgm:pt modelId="{D5B5F751-C188-4510-BA3C-AAA49A4B48AD}" type="sibTrans" cxnId="{2AFA69C7-B710-4607-AF3A-369208439BF3}">
      <dgm:prSet/>
      <dgm:spPr/>
      <dgm:t>
        <a:bodyPr/>
        <a:lstStyle/>
        <a:p>
          <a:endParaRPr lang="en-US"/>
        </a:p>
      </dgm:t>
    </dgm:pt>
    <dgm:pt modelId="{08B9B0D2-B60C-4478-920A-3AE8793CE88E}">
      <dgm:prSet/>
      <dgm:spPr/>
      <dgm:t>
        <a:bodyPr/>
        <a:lstStyle/>
        <a:p>
          <a:r>
            <a:rPr lang="en-US"/>
            <a:t>Ryan Vrbetta - Developer</a:t>
          </a:r>
        </a:p>
      </dgm:t>
    </dgm:pt>
    <dgm:pt modelId="{E466FF71-7344-47B7-A0E6-48B1901481E9}" type="parTrans" cxnId="{6AAA7A71-5139-4C7E-BB47-330238393B27}">
      <dgm:prSet/>
      <dgm:spPr/>
      <dgm:t>
        <a:bodyPr/>
        <a:lstStyle/>
        <a:p>
          <a:endParaRPr lang="en-US"/>
        </a:p>
      </dgm:t>
    </dgm:pt>
    <dgm:pt modelId="{A783BD76-2838-499B-9B1C-0CE7BBF7C42F}" type="sibTrans" cxnId="{6AAA7A71-5139-4C7E-BB47-330238393B27}">
      <dgm:prSet/>
      <dgm:spPr/>
      <dgm:t>
        <a:bodyPr/>
        <a:lstStyle/>
        <a:p>
          <a:endParaRPr lang="en-US"/>
        </a:p>
      </dgm:t>
    </dgm:pt>
    <dgm:pt modelId="{B4EF43EF-803B-40B9-98A1-68C08E6E1E48}" type="pres">
      <dgm:prSet presAssocID="{76F6D5A2-2E5B-45C6-955F-4DC393790AE3}" presName="linear" presStyleCnt="0">
        <dgm:presLayoutVars>
          <dgm:animLvl val="lvl"/>
          <dgm:resizeHandles val="exact"/>
        </dgm:presLayoutVars>
      </dgm:prSet>
      <dgm:spPr/>
    </dgm:pt>
    <dgm:pt modelId="{6C085C55-28D3-4DEB-8813-F9E0C72C14BB}" type="pres">
      <dgm:prSet presAssocID="{0B381EFA-9AC6-4886-B002-2BA03984664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A8B54E2-713C-4A82-8BDC-14B3CDCF15D4}" type="pres">
      <dgm:prSet presAssocID="{BDBDE1A8-57F6-4D8F-B26D-F1B983B600FA}" presName="spacer" presStyleCnt="0"/>
      <dgm:spPr/>
    </dgm:pt>
    <dgm:pt modelId="{D18F1E2E-A004-4C01-8238-BE70CAC28361}" type="pres">
      <dgm:prSet presAssocID="{6490C23E-E998-4520-9CDA-70CAAED4BD4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2151F75-FE50-415E-85B9-D536D050526F}" type="pres">
      <dgm:prSet presAssocID="{75777E8E-2AF8-472B-81F2-A472A3625768}" presName="spacer" presStyleCnt="0"/>
      <dgm:spPr/>
    </dgm:pt>
    <dgm:pt modelId="{105F4E0E-BF4A-4ACF-AC87-A86DF6383415}" type="pres">
      <dgm:prSet presAssocID="{92E66420-684A-47BE-B3F6-72E7CB006F6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7027BEF-F538-4A04-B195-21596ED0A1A0}" type="pres">
      <dgm:prSet presAssocID="{D5B5F751-C188-4510-BA3C-AAA49A4B48AD}" presName="spacer" presStyleCnt="0"/>
      <dgm:spPr/>
    </dgm:pt>
    <dgm:pt modelId="{07066365-1CA2-46BF-9781-B4681A7A2EE1}" type="pres">
      <dgm:prSet presAssocID="{08B9B0D2-B60C-4478-920A-3AE8793CE88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DAEF34F-F88F-4118-B639-EC1E9E7C50B6}" type="presOf" srcId="{0B381EFA-9AC6-4886-B002-2BA039846648}" destId="{6C085C55-28D3-4DEB-8813-F9E0C72C14BB}" srcOrd="0" destOrd="0" presId="urn:microsoft.com/office/officeart/2005/8/layout/vList2"/>
    <dgm:cxn modelId="{6AAA7A71-5139-4C7E-BB47-330238393B27}" srcId="{76F6D5A2-2E5B-45C6-955F-4DC393790AE3}" destId="{08B9B0D2-B60C-4478-920A-3AE8793CE88E}" srcOrd="3" destOrd="0" parTransId="{E466FF71-7344-47B7-A0E6-48B1901481E9}" sibTransId="{A783BD76-2838-499B-9B1C-0CE7BBF7C42F}"/>
    <dgm:cxn modelId="{EA65AA76-8B98-4CE1-BA19-DF314C8F4EBD}" srcId="{76F6D5A2-2E5B-45C6-955F-4DC393790AE3}" destId="{6490C23E-E998-4520-9CDA-70CAAED4BD4C}" srcOrd="1" destOrd="0" parTransId="{51C00F47-F666-404D-84C7-07E2822C3DDC}" sibTransId="{75777E8E-2AF8-472B-81F2-A472A3625768}"/>
    <dgm:cxn modelId="{55A0CF78-6B31-47CE-A95D-5D7A7EC7E004}" type="presOf" srcId="{76F6D5A2-2E5B-45C6-955F-4DC393790AE3}" destId="{B4EF43EF-803B-40B9-98A1-68C08E6E1E48}" srcOrd="0" destOrd="0" presId="urn:microsoft.com/office/officeart/2005/8/layout/vList2"/>
    <dgm:cxn modelId="{857F537F-6149-418F-9AD3-0D1BC7EC233A}" srcId="{76F6D5A2-2E5B-45C6-955F-4DC393790AE3}" destId="{0B381EFA-9AC6-4886-B002-2BA039846648}" srcOrd="0" destOrd="0" parTransId="{BEB8091E-C570-4C69-8E4A-213E846589EF}" sibTransId="{BDBDE1A8-57F6-4D8F-B26D-F1B983B600FA}"/>
    <dgm:cxn modelId="{8991E381-D119-441E-AB67-ED32E29CABD3}" type="presOf" srcId="{92E66420-684A-47BE-B3F6-72E7CB006F68}" destId="{105F4E0E-BF4A-4ACF-AC87-A86DF6383415}" srcOrd="0" destOrd="0" presId="urn:microsoft.com/office/officeart/2005/8/layout/vList2"/>
    <dgm:cxn modelId="{09441890-09B6-4059-A794-5D348F4C45F4}" type="presOf" srcId="{6490C23E-E998-4520-9CDA-70CAAED4BD4C}" destId="{D18F1E2E-A004-4C01-8238-BE70CAC28361}" srcOrd="0" destOrd="0" presId="urn:microsoft.com/office/officeart/2005/8/layout/vList2"/>
    <dgm:cxn modelId="{2AFA69C7-B710-4607-AF3A-369208439BF3}" srcId="{76F6D5A2-2E5B-45C6-955F-4DC393790AE3}" destId="{92E66420-684A-47BE-B3F6-72E7CB006F68}" srcOrd="2" destOrd="0" parTransId="{8956854A-8111-4C61-BFE7-D7B7817B341A}" sibTransId="{D5B5F751-C188-4510-BA3C-AAA49A4B48AD}"/>
    <dgm:cxn modelId="{62ED78D2-FBC2-45F8-9BB7-4451DAF1383F}" type="presOf" srcId="{08B9B0D2-B60C-4478-920A-3AE8793CE88E}" destId="{07066365-1CA2-46BF-9781-B4681A7A2EE1}" srcOrd="0" destOrd="0" presId="urn:microsoft.com/office/officeart/2005/8/layout/vList2"/>
    <dgm:cxn modelId="{20588FE5-5C70-4B14-9EBA-7CDBDA8B709E}" type="presParOf" srcId="{B4EF43EF-803B-40B9-98A1-68C08E6E1E48}" destId="{6C085C55-28D3-4DEB-8813-F9E0C72C14BB}" srcOrd="0" destOrd="0" presId="urn:microsoft.com/office/officeart/2005/8/layout/vList2"/>
    <dgm:cxn modelId="{6EBEEB65-9978-4712-AC9C-86C76CCE7FBA}" type="presParOf" srcId="{B4EF43EF-803B-40B9-98A1-68C08E6E1E48}" destId="{7A8B54E2-713C-4A82-8BDC-14B3CDCF15D4}" srcOrd="1" destOrd="0" presId="urn:microsoft.com/office/officeart/2005/8/layout/vList2"/>
    <dgm:cxn modelId="{80FC8BF3-6183-4317-8ED9-C467A2144790}" type="presParOf" srcId="{B4EF43EF-803B-40B9-98A1-68C08E6E1E48}" destId="{D18F1E2E-A004-4C01-8238-BE70CAC28361}" srcOrd="2" destOrd="0" presId="urn:microsoft.com/office/officeart/2005/8/layout/vList2"/>
    <dgm:cxn modelId="{2309EE61-082E-44E9-BB9C-FBC1368F8076}" type="presParOf" srcId="{B4EF43EF-803B-40B9-98A1-68C08E6E1E48}" destId="{02151F75-FE50-415E-85B9-D536D050526F}" srcOrd="3" destOrd="0" presId="urn:microsoft.com/office/officeart/2005/8/layout/vList2"/>
    <dgm:cxn modelId="{6A6DF414-AA95-4DA9-9F1F-54A18D558C74}" type="presParOf" srcId="{B4EF43EF-803B-40B9-98A1-68C08E6E1E48}" destId="{105F4E0E-BF4A-4ACF-AC87-A86DF6383415}" srcOrd="4" destOrd="0" presId="urn:microsoft.com/office/officeart/2005/8/layout/vList2"/>
    <dgm:cxn modelId="{EF31CCE9-8C44-400D-AA2E-F6243E0922D8}" type="presParOf" srcId="{B4EF43EF-803B-40B9-98A1-68C08E6E1E48}" destId="{47027BEF-F538-4A04-B195-21596ED0A1A0}" srcOrd="5" destOrd="0" presId="urn:microsoft.com/office/officeart/2005/8/layout/vList2"/>
    <dgm:cxn modelId="{88045576-52D9-4498-84E7-B16EF55FAF2C}" type="presParOf" srcId="{B4EF43EF-803B-40B9-98A1-68C08E6E1E48}" destId="{07066365-1CA2-46BF-9781-B4681A7A2EE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085C55-28D3-4DEB-8813-F9E0C72C14BB}">
      <dsp:nvSpPr>
        <dsp:cNvPr id="0" name=""/>
        <dsp:cNvSpPr/>
      </dsp:nvSpPr>
      <dsp:spPr>
        <a:xfrm>
          <a:off x="0" y="35695"/>
          <a:ext cx="10353761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Robert Hallanger – Project Manager</a:t>
          </a:r>
        </a:p>
      </dsp:txBody>
      <dsp:txXfrm>
        <a:off x="44549" y="80244"/>
        <a:ext cx="10264663" cy="823502"/>
      </dsp:txXfrm>
    </dsp:sp>
    <dsp:sp modelId="{D18F1E2E-A004-4C01-8238-BE70CAC28361}">
      <dsp:nvSpPr>
        <dsp:cNvPr id="0" name=""/>
        <dsp:cNvSpPr/>
      </dsp:nvSpPr>
      <dsp:spPr>
        <a:xfrm>
          <a:off x="0" y="1060615"/>
          <a:ext cx="10353761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Matthew Fuentes – Developer</a:t>
          </a:r>
        </a:p>
      </dsp:txBody>
      <dsp:txXfrm>
        <a:off x="44549" y="1105164"/>
        <a:ext cx="10264663" cy="823502"/>
      </dsp:txXfrm>
    </dsp:sp>
    <dsp:sp modelId="{105F4E0E-BF4A-4ACF-AC87-A86DF6383415}">
      <dsp:nvSpPr>
        <dsp:cNvPr id="0" name=""/>
        <dsp:cNvSpPr/>
      </dsp:nvSpPr>
      <dsp:spPr>
        <a:xfrm>
          <a:off x="0" y="2085535"/>
          <a:ext cx="10353761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Kelton Jasper – Tester</a:t>
          </a:r>
        </a:p>
      </dsp:txBody>
      <dsp:txXfrm>
        <a:off x="44549" y="2130084"/>
        <a:ext cx="10264663" cy="823502"/>
      </dsp:txXfrm>
    </dsp:sp>
    <dsp:sp modelId="{07066365-1CA2-46BF-9781-B4681A7A2EE1}">
      <dsp:nvSpPr>
        <dsp:cNvPr id="0" name=""/>
        <dsp:cNvSpPr/>
      </dsp:nvSpPr>
      <dsp:spPr>
        <a:xfrm>
          <a:off x="0" y="3110455"/>
          <a:ext cx="10353761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Ryan Vrbetta - Developer</a:t>
          </a:r>
        </a:p>
      </dsp:txBody>
      <dsp:txXfrm>
        <a:off x="44549" y="3155004"/>
        <a:ext cx="10264663" cy="8235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EC7335-F520-40C5-93B4-85E867E576DC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01F379-46A9-42BB-BE0A-B9B54FC62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39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1F379-46A9-42BB-BE0A-B9B54FC6266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327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927C0-F72B-4E8F-B6B6-21184C02AAA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9BED-3D6C-4459-9526-888594CAE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614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927C0-F72B-4E8F-B6B6-21184C02AAA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9BED-3D6C-4459-9526-888594CAE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875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927C0-F72B-4E8F-B6B6-21184C02AAA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9BED-3D6C-4459-9526-888594CAE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325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927C0-F72B-4E8F-B6B6-21184C02AAA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9BED-3D6C-4459-9526-888594CAE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466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927C0-F72B-4E8F-B6B6-21184C02AAA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9BED-3D6C-4459-9526-888594CAE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248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927C0-F72B-4E8F-B6B6-21184C02AAA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9BED-3D6C-4459-9526-888594CAE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649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927C0-F72B-4E8F-B6B6-21184C02AAA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9BED-3D6C-4459-9526-888594CAE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854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927C0-F72B-4E8F-B6B6-21184C02AAA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9BED-3D6C-4459-9526-888594CAE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23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927C0-F72B-4E8F-B6B6-21184C02AAA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9BED-3D6C-4459-9526-888594CAE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603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927C0-F72B-4E8F-B6B6-21184C02AAA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9BED-3D6C-4459-9526-888594CAE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943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927C0-F72B-4E8F-B6B6-21184C02AAA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9BED-3D6C-4459-9526-888594CAE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689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927C0-F72B-4E8F-B6B6-21184C02AAA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9BED-3D6C-4459-9526-888594CAEAA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7847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927C0-F72B-4E8F-B6B6-21184C02AAA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9BED-3D6C-4459-9526-888594CAE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5375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927C0-F72B-4E8F-B6B6-21184C02AAA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9BED-3D6C-4459-9526-888594CAE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6859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927C0-F72B-4E8F-B6B6-21184C02AAA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9BED-3D6C-4459-9526-888594CAE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168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927C0-F72B-4E8F-B6B6-21184C02AAA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9BED-3D6C-4459-9526-888594CAE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6497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927C0-F72B-4E8F-B6B6-21184C02AAA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9BED-3D6C-4459-9526-888594CAE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580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16927C0-F72B-4E8F-B6B6-21184C02AAA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3CA9BED-3D6C-4459-9526-888594CAE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8214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7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Casino Table Images – Browse 219,263 Stock Photos, Vectors, and Video |  Adobe Stock">
            <a:extLst>
              <a:ext uri="{FF2B5EF4-FFF2-40B4-BE49-F238E27FC236}">
                <a16:creationId xmlns:a16="http://schemas.microsoft.com/office/drawing/2014/main" id="{4FEE227E-9085-A14C-8AE8-8A1A30109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67DCC4-CE85-4EFB-A736-95BC549B4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965200"/>
            <a:ext cx="10261600" cy="3564869"/>
          </a:xfrm>
        </p:spPr>
        <p:txBody>
          <a:bodyPr>
            <a:normAutofit fontScale="90000"/>
          </a:bodyPr>
          <a:lstStyle/>
          <a:p>
            <a:pPr algn="l"/>
            <a:r>
              <a:rPr lang="en-US" sz="11500">
                <a:ln w="22225">
                  <a:solidFill>
                    <a:schemeClr val="tx1"/>
                  </a:solidFill>
                  <a:miter lim="800000"/>
                </a:ln>
                <a:noFill/>
                <a:effectLst>
                  <a:outerShdw blurRad="63500" dist="101600" dir="2400000" algn="tl">
                    <a:srgbClr val="FFFF00">
                      <a:alpha val="43000"/>
                    </a:srgbClr>
                  </a:outerShdw>
                </a:effectLst>
                <a:latin typeface="Brush Script MT" panose="03060802040406070304" pitchFamily="66" charset="0"/>
              </a:rPr>
              <a:t>Blackjack Card Counting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9D5D9D-03FF-C586-34F9-C41868A8DB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0" y="4572002"/>
            <a:ext cx="10261600" cy="1202995"/>
          </a:xfrm>
        </p:spPr>
        <p:txBody>
          <a:bodyPr>
            <a:normAutofit/>
          </a:bodyPr>
          <a:lstStyle/>
          <a:p>
            <a:pPr algn="l"/>
            <a:r>
              <a:rPr lang="en-US" sz="3200">
                <a:effectLst>
                  <a:outerShdw blurRad="38100" dist="38100" dir="2700000" algn="tl">
                    <a:srgbClr val="FFFF00">
                      <a:alpha val="43000"/>
                    </a:srgbClr>
                  </a:outerShdw>
                </a:effectLst>
                <a:latin typeface="Britannic Bold" panose="020B0903060703020204" pitchFamily="34" charset="0"/>
              </a:rPr>
              <a:t>Developed by Team FourThorp</a:t>
            </a:r>
          </a:p>
        </p:txBody>
      </p:sp>
    </p:spTree>
    <p:extLst>
      <p:ext uri="{BB962C8B-B14F-4D97-AF65-F5344CB8AC3E}">
        <p14:creationId xmlns:p14="http://schemas.microsoft.com/office/powerpoint/2010/main" val="15340428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1159B-AF41-077A-5FE6-C12E60144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436C4-E232-3EA1-6105-40B144EC4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 algn="ctr">
              <a:buNone/>
            </a:pPr>
            <a:r>
              <a:rPr lang="en-US"/>
              <a:t>Introduction</a:t>
            </a:r>
          </a:p>
          <a:p>
            <a:pPr marL="36900" indent="0" algn="ctr">
              <a:buNone/>
            </a:pPr>
            <a:endParaRPr lang="en-US"/>
          </a:p>
          <a:p>
            <a:pPr marL="36900" indent="0" algn="ctr">
              <a:buNone/>
            </a:pPr>
            <a:r>
              <a:rPr lang="en-US"/>
              <a:t>Demonstration</a:t>
            </a:r>
          </a:p>
          <a:p>
            <a:pPr marL="36900" indent="0" algn="ctr">
              <a:buNone/>
            </a:pPr>
            <a:endParaRPr lang="en-US"/>
          </a:p>
          <a:p>
            <a:pPr marL="36900" indent="0" algn="ctr">
              <a:buNone/>
            </a:pPr>
            <a:r>
              <a:rPr lang="en-US"/>
              <a:t>Changes</a:t>
            </a:r>
          </a:p>
          <a:p>
            <a:pPr marL="36900" indent="0" algn="ctr">
              <a:buNone/>
            </a:pPr>
            <a:endParaRPr lang="en-US"/>
          </a:p>
          <a:p>
            <a:pPr marL="36900" indent="0" algn="ctr">
              <a:buNone/>
            </a:pPr>
            <a:r>
              <a:rPr lang="en-US"/>
              <a:t>Questions &amp; Answers</a:t>
            </a:r>
          </a:p>
        </p:txBody>
      </p:sp>
    </p:spTree>
    <p:extLst>
      <p:ext uri="{BB962C8B-B14F-4D97-AF65-F5344CB8AC3E}">
        <p14:creationId xmlns:p14="http://schemas.microsoft.com/office/powerpoint/2010/main" val="2291112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93029-682B-5DF2-FB88-5BA0ADA36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 FourThorp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8B827CE-0710-03A4-D575-A82403FF84F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3795" y="1732449"/>
          <a:ext cx="10353762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2" descr="Team FourThorp">
            <a:extLst>
              <a:ext uri="{FF2B5EF4-FFF2-40B4-BE49-F238E27FC236}">
                <a16:creationId xmlns:a16="http://schemas.microsoft.com/office/drawing/2014/main" id="{8AFE8A8B-1994-AF92-153A-0009C7B1D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60" y="60380"/>
            <a:ext cx="1595870" cy="159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2259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343AF-D360-B6D9-6645-6275984B8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1B46A-DBCF-21D1-D3F2-7C52EC819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305435"/>
            <a:r>
              <a:rPr lang="en-US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Running Count</a:t>
            </a:r>
            <a:endParaRPr lang="en-US" dirty="0"/>
          </a:p>
          <a:p>
            <a:pPr indent="-305435"/>
            <a:r>
              <a:rPr lang="en-US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True Count = R/D</a:t>
            </a:r>
          </a:p>
          <a:p>
            <a:pPr indent="-305435"/>
            <a:r>
              <a:rPr lang="en-US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Tool to inform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036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F9769-35FD-8B0F-B0B9-1B510470D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26321-8467-F7ED-3A46-7C28A2996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305435"/>
            <a:r>
              <a:rPr lang="en-US" dirty="0"/>
              <a:t>Poker</a:t>
            </a:r>
          </a:p>
          <a:p>
            <a:pPr indent="-305435"/>
            <a:r>
              <a:rPr lang="en-US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Image Analysis</a:t>
            </a:r>
          </a:p>
        </p:txBody>
      </p:sp>
    </p:spTree>
    <p:extLst>
      <p:ext uri="{BB962C8B-B14F-4D97-AF65-F5344CB8AC3E}">
        <p14:creationId xmlns:p14="http://schemas.microsoft.com/office/powerpoint/2010/main" val="3784717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8D4CB-8824-7AD8-F46D-FFE528714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Ryan – 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8920E-7877-C2B9-43F8-E0D11A4B7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305435"/>
            <a:r>
              <a:rPr lang="en-US"/>
              <a:t>Why </a:t>
            </a:r>
            <a:r>
              <a:rPr lang="en-US" err="1"/>
              <a:t>FourThorp</a:t>
            </a:r>
            <a:r>
              <a:rPr lang="en-US"/>
              <a:t> – Edward Thorp is one of the most notable individuals when it came to the invention of the Hi-Lo card counting system.</a:t>
            </a:r>
            <a:endParaRPr lang="en-US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indent="-305435"/>
            <a:r>
              <a:rPr lang="en-US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How does the grid system work in your code? It works like a spreadsheet; I used a loop with modulo math (I % 4 and I // 4) to dynamically calculate the row and column for each card button, which turns a flat list of cards into a 4-column keypad.</a:t>
            </a:r>
          </a:p>
          <a:p>
            <a:pPr indent="-305435"/>
            <a:r>
              <a:rPr lang="en-US"/>
              <a:t>Why did you use a class app: for the GUI? Because the dashboard is the size it is, it was easier and faster to use a functional approach by using a global state variable instead.</a:t>
            </a:r>
          </a:p>
          <a:p>
            <a:pPr indent="-305435"/>
            <a:r>
              <a:rPr lang="en-US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Why do you recalculate the hand total from scratch every time? Because aces are dynamic, meaning their number isn't stuck to one value. If I just added points, a hand like A, 10, 6 begins to complicate things a bit, so I figured it was safer and bug free to recalculate the total from the list of cards each time the UI updates.</a:t>
            </a:r>
          </a:p>
          <a:p>
            <a:pPr indent="-305435"/>
            <a:endParaRPr lang="en-US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75434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DE340-A021-AC9B-80D3-7BD1DE19B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A1D16-C677-62A5-319E-D772B3407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Ryan – Q&amp;A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5EC10-5C01-95BC-856E-694D56593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305435"/>
            <a:r>
              <a:rPr lang="en-US"/>
              <a:t>Why use partial in the button loop? Can’t you just call the function normally? No, because when I call “command=click(rank)” it would start the function as soon as you start the app, which is not intended. Partial freezes the argument specified onto a specific button, so that a King will remember it’s a King for example.</a:t>
            </a:r>
          </a:p>
          <a:p>
            <a:pPr indent="-305435"/>
            <a:r>
              <a:rPr lang="en-US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How does the correction feature work? It makes a reversable logic flow. When the "Remove" toggle is active, the math changes from to +1 to –1. It also checks if the card exists in the hand list before trying to remove it to prevent crashes.</a:t>
            </a:r>
          </a:p>
          <a:p>
            <a:endParaRPr lang="en-US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590746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DB95DF950EED4982189C79D3932061" ma:contentTypeVersion="5" ma:contentTypeDescription="Create a new document." ma:contentTypeScope="" ma:versionID="006bb81cca31dd76731d6f6f156dfcfc">
  <xsd:schema xmlns:xsd="http://www.w3.org/2001/XMLSchema" xmlns:xs="http://www.w3.org/2001/XMLSchema" xmlns:p="http://schemas.microsoft.com/office/2006/metadata/properties" xmlns:ns3="4efee904-ab57-48b8-b4e1-4dfffc4bdd5f" targetNamespace="http://schemas.microsoft.com/office/2006/metadata/properties" ma:root="true" ma:fieldsID="4c4774c463a81cc687afd1c658805c9c" ns3:_="">
    <xsd:import namespace="4efee904-ab57-48b8-b4e1-4dfffc4bdd5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fee904-ab57-48b8-b4e1-4dfffc4bdd5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C2D15C-E707-4AC6-93F8-DD0237EF844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5A1B75F-559B-4704-A0FB-019DB112F835}">
  <ds:schemaRefs>
    <ds:schemaRef ds:uri="4efee904-ab57-48b8-b4e1-4dfffc4bdd5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6C01278-0D3A-48D4-9DCA-48513D16A138}">
  <ds:schemaRefs>
    <ds:schemaRef ds:uri="4efee904-ab57-48b8-b4e1-4dfffc4bdd5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Application>Microsoft Office PowerPoint</Application>
  <PresentationFormat>Widescreen</PresentationFormat>
  <Slides>7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Slate</vt:lpstr>
      <vt:lpstr>Blackjack Card Counting</vt:lpstr>
      <vt:lpstr>Overview</vt:lpstr>
      <vt:lpstr>Team FourThorp</vt:lpstr>
      <vt:lpstr>DEMO</vt:lpstr>
      <vt:lpstr>Change History</vt:lpstr>
      <vt:lpstr>Ryan – Q&amp;A</vt:lpstr>
      <vt:lpstr>Ryan – Q&amp;A (cont.)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J. Hallanger</dc:creator>
  <cp:revision>23</cp:revision>
  <dcterms:created xsi:type="dcterms:W3CDTF">2025-12-01T17:24:15Z</dcterms:created>
  <dcterms:modified xsi:type="dcterms:W3CDTF">2025-12-03T02:15:04Z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0x010100A2DB95DF950EED4982189C79D3932061</vt:lpwstr>
  </property>
</Properties>
</file>